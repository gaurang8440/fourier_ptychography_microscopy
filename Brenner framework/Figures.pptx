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D0CA-568D-5C37-4963-97C15A16A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C6178-F7E8-B755-BB56-20B9537F6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2B398-1143-5A77-5821-84461A04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65F26-6AA2-87DE-79B5-DF2F94A6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FB795-B83F-FC1C-6446-D0536461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02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8F7B-21B0-685B-3797-080C56C6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BC2E-F558-7175-5601-18334E35F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695D2-0843-1B85-1994-FCDDF525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E55F-D30D-90D7-7E71-4FE30DD4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B428B-7578-AA82-4BAB-9C996F26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54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9507-729B-B1E0-2BAF-68D1834F0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F3CDC-417F-8E6B-E745-15B2A798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600DF-372C-CCA9-FEBC-C04C45F1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BFCE1-7950-9AAD-EA0F-D10E3C38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FA805-6A72-1B54-B4C7-213D50B9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6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6D28-2FC5-0409-30DC-E22AE086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63F9-AA2E-AEDD-CB69-FF939824A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95D3C-29BA-C56C-8AA9-C2A658F29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8CF2E-C74C-D21C-5B02-63F2520D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293F8-E6F3-641C-91B5-3557C011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71C50-FD77-8A8F-FFED-161C4A33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03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3C429-D405-D4D3-F7C0-0E7BCBDBD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60E1E-4566-E161-E89B-A4BB3D9B1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2016D-072D-FB67-7C45-B4918A521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73892-9611-6E88-C7B8-F0E4E1BDA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33666-3226-3AA4-FAE9-63552D612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5196B-B463-62B2-ED9B-53CAD40B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BBCDE-AA63-F986-8919-DEA897AD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B5EF0-3D19-91F1-D532-1EE92979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088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5A3F-AC41-9DCF-C0C4-1016785C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D0D8F-D0CA-A1B2-D9E6-3CB58E0E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4ABA2-BC0F-1FD4-A71E-ABDA3AA5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0E850-3BA6-E7BD-BD8F-43FD1A38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64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49AD5-45C3-99EF-FEE6-4A1DE84E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030BB-CDD6-4E07-AE72-F607A1CD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1CEC8-7B21-CC1A-78DA-8FB67557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48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2C1E-2DC4-9538-96CA-2489E5C4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C925-E37E-07A8-402D-AB98F7FB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28CEF-1676-23D0-63E1-94B943BE0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FD6E3-E644-E920-B345-6B34A56D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6148A-0D70-CAEB-DA28-D7A7FE0C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33D05-BAB5-5F09-D08B-69473D91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8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7E5C-4C36-309A-CF13-BCEF76DA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249BB-0138-6957-532A-9DBD4547B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016DF-F297-981B-ABDA-6751943E3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EB40D-0A66-BE7A-0867-682C7BB4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2317E-E0E7-B923-7CFF-669781DC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5DC97-24C3-26AB-A20D-5F44BF8D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9F02-D467-2525-1AAC-DA7B62EE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CCCAF-9410-5EB6-FC69-50F4DA451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FAB8E-2D95-1206-66FA-56373E5B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610D9-F4BA-A2C5-893F-4124903D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2CEE-D27B-D433-A612-F1AF6821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73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ABCFB-3203-9B0F-30B2-7631A3475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E718E-F6A0-811E-8772-BF9914CAE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E6D01-A6B3-A6AE-5598-0DAC60E18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DDCA-AA07-AC0A-3201-4DB05F9CE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CD9FE-4C96-6A32-0395-8B300947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00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DB317-AFAB-EA89-FFEE-BDCE1C35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F4F2-FAB8-14D8-9F45-C53131617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93511-642D-E4A6-E262-F56DF6839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7E477-3359-45F1-BD76-6786700BEEE7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E404-E818-1647-C339-BB58BAF0E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86960-51C8-AEF5-5B1E-25E5D8399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BC740-3426-455D-880C-B6157C3F0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7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E95796-277D-21D5-6E2E-D335A24E33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5"/>
          <a:stretch>
            <a:fillRect/>
          </a:stretch>
        </p:blipFill>
        <p:spPr bwMode="auto">
          <a:xfrm>
            <a:off x="131702" y="449494"/>
            <a:ext cx="11928595" cy="59590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46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03F9D3D-1D45-4525-D247-3E3CEA994CC8}"/>
              </a:ext>
            </a:extLst>
          </p:cNvPr>
          <p:cNvGrpSpPr/>
          <p:nvPr/>
        </p:nvGrpSpPr>
        <p:grpSpPr>
          <a:xfrm>
            <a:off x="275541" y="595900"/>
            <a:ext cx="11200990" cy="3074542"/>
            <a:chOff x="275541" y="595900"/>
            <a:chExt cx="11200990" cy="30745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DED4279-1511-7014-2398-1C0DB42817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33" t="8734" r="33520" b="45290"/>
            <a:stretch>
              <a:fillRect/>
            </a:stretch>
          </p:blipFill>
          <p:spPr bwMode="auto">
            <a:xfrm>
              <a:off x="275541" y="742308"/>
              <a:ext cx="3965825" cy="2928134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40840C-F6AC-EFC5-DEDD-25F3E94E0B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494" t="6435" r="1" b="45290"/>
            <a:stretch>
              <a:fillRect/>
            </a:stretch>
          </p:blipFill>
          <p:spPr bwMode="auto">
            <a:xfrm>
              <a:off x="7837619" y="595901"/>
              <a:ext cx="3638912" cy="307454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3C157B-8190-8AE5-3142-1692AFF94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81" t="54024"/>
            <a:stretch>
              <a:fillRect/>
            </a:stretch>
          </p:blipFill>
          <p:spPr bwMode="auto">
            <a:xfrm>
              <a:off x="4269843" y="742308"/>
              <a:ext cx="3604666" cy="2928134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80209E-05C3-FACB-177F-DA9B9F13A7DE}"/>
                </a:ext>
              </a:extLst>
            </p:cNvPr>
            <p:cNvSpPr txBox="1"/>
            <p:nvPr/>
          </p:nvSpPr>
          <p:spPr>
            <a:xfrm>
              <a:off x="1321011" y="595901"/>
              <a:ext cx="230141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228600" indent="-228600" algn="ctr">
                <a:buAutoNum type="alphaLcParenBoth"/>
              </a:pPr>
              <a:r>
                <a:rPr lang="en-IN" sz="1200" b="1" dirty="0"/>
                <a:t>Weak Phase Object</a:t>
              </a:r>
            </a:p>
            <a:p>
              <a:pPr algn="ctr"/>
              <a:r>
                <a:rPr lang="en-IN" sz="1200" b="1" dirty="0"/>
                <a:t>[Phase Inversion]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58450D-9316-8FE2-020E-8CB4B0FDAFEE}"/>
                </a:ext>
              </a:extLst>
            </p:cNvPr>
            <p:cNvSpPr txBox="1"/>
            <p:nvPr/>
          </p:nvSpPr>
          <p:spPr>
            <a:xfrm>
              <a:off x="4791964" y="595901"/>
              <a:ext cx="230141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(b) Complex Object</a:t>
              </a:r>
            </a:p>
            <a:p>
              <a:pPr algn="ctr"/>
              <a:r>
                <a:rPr lang="en-IN" sz="1200" b="1" dirty="0"/>
                <a:t>[Amplitude-Phase Crosstalk]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EC1E43-201B-20B1-7965-C5964E40D0F8}"/>
                </a:ext>
              </a:extLst>
            </p:cNvPr>
            <p:cNvSpPr txBox="1"/>
            <p:nvPr/>
          </p:nvSpPr>
          <p:spPr>
            <a:xfrm>
              <a:off x="8569578" y="595900"/>
              <a:ext cx="230141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(c) Strong Phase Object</a:t>
              </a:r>
            </a:p>
            <a:p>
              <a:pPr algn="ctr"/>
              <a:r>
                <a:rPr lang="en-IN" sz="1200" b="1" dirty="0"/>
                <a:t>[Gibbs Anomaly]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185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EDDAE83-D0E5-8BC6-8DE1-1402E58E47E2}"/>
              </a:ext>
            </a:extLst>
          </p:cNvPr>
          <p:cNvGrpSpPr/>
          <p:nvPr/>
        </p:nvGrpSpPr>
        <p:grpSpPr>
          <a:xfrm>
            <a:off x="89873" y="2399060"/>
            <a:ext cx="12370797" cy="2506362"/>
            <a:chOff x="89873" y="2399060"/>
            <a:chExt cx="12370797" cy="250636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01993C-3DDF-A9B2-2153-2CC6F0B441CE}"/>
                </a:ext>
              </a:extLst>
            </p:cNvPr>
            <p:cNvSpPr txBox="1"/>
            <p:nvPr/>
          </p:nvSpPr>
          <p:spPr>
            <a:xfrm rot="16200000">
              <a:off x="-854756" y="3343689"/>
              <a:ext cx="2150869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latin typeface="Arial Black" panose="020B0A04020102020204" pitchFamily="34" charset="0"/>
                </a:rPr>
                <a:t>Normalized Brenner score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7AFB046-45B9-9631-117D-ECEC25F83473}"/>
                </a:ext>
              </a:extLst>
            </p:cNvPr>
            <p:cNvGrpSpPr/>
            <p:nvPr/>
          </p:nvGrpSpPr>
          <p:grpSpPr>
            <a:xfrm>
              <a:off x="351484" y="2492943"/>
              <a:ext cx="12109186" cy="2412479"/>
              <a:chOff x="351484" y="2492943"/>
              <a:chExt cx="12109186" cy="241247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D525618-679C-E62E-2C48-B2F73BCE3160}"/>
                  </a:ext>
                </a:extLst>
              </p:cNvPr>
              <p:cNvGrpSpPr/>
              <p:nvPr/>
            </p:nvGrpSpPr>
            <p:grpSpPr>
              <a:xfrm>
                <a:off x="351484" y="2492943"/>
                <a:ext cx="12109186" cy="2412479"/>
                <a:chOff x="351484" y="2492943"/>
                <a:chExt cx="12109186" cy="2412479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FA595982-92F9-91C7-A2DD-8C8713EE1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656" t="57035" b="3360"/>
                <a:stretch>
                  <a:fillRect/>
                </a:stretch>
              </p:blipFill>
              <p:spPr>
                <a:xfrm>
                  <a:off x="9372674" y="2492943"/>
                  <a:ext cx="3063851" cy="2150869"/>
                </a:xfrm>
                <a:prstGeom prst="rect">
                  <a:avLst/>
                </a:prstGeom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A472653-1527-64D2-239F-7DE59B0C3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765" t="13851" r="692" b="46625"/>
                <a:stretch>
                  <a:fillRect/>
                </a:stretch>
              </p:blipFill>
              <p:spPr>
                <a:xfrm>
                  <a:off x="6430091" y="2492943"/>
                  <a:ext cx="2991743" cy="2150869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E5D2C330-D9D5-329A-1658-B5DD25F371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5422" t="13688" r="33494" b="46625"/>
                <a:stretch>
                  <a:fillRect/>
                </a:stretch>
              </p:blipFill>
              <p:spPr>
                <a:xfrm>
                  <a:off x="3474720" y="2492943"/>
                  <a:ext cx="3032373" cy="2150869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0F792700-4CB7-9460-43BB-BF53EDE199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33" t="13688" r="66565" b="46788"/>
                <a:stretch>
                  <a:fillRect/>
                </a:stretch>
              </p:blipFill>
              <p:spPr>
                <a:xfrm>
                  <a:off x="351484" y="2492943"/>
                  <a:ext cx="3213026" cy="2150869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B57DA7D-1DC1-4E78-55CA-570AFB7AF6C1}"/>
                    </a:ext>
                  </a:extLst>
                </p:cNvPr>
                <p:cNvSpPr txBox="1"/>
                <p:nvPr/>
              </p:nvSpPr>
              <p:spPr>
                <a:xfrm>
                  <a:off x="1447809" y="4643812"/>
                  <a:ext cx="213680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Black" panose="020B0A04020102020204" pitchFamily="34" charset="0"/>
                    </a:rPr>
                    <a:t>Defocus (um)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5C58E3E-4010-5EBC-1183-707411918719}"/>
                    </a:ext>
                  </a:extLst>
                </p:cNvPr>
                <p:cNvSpPr txBox="1"/>
                <p:nvPr/>
              </p:nvSpPr>
              <p:spPr>
                <a:xfrm>
                  <a:off x="4459659" y="4643812"/>
                  <a:ext cx="213680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Black" panose="020B0A04020102020204" pitchFamily="34" charset="0"/>
                    </a:rPr>
                    <a:t>Defocus (um)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3618428-D3B1-846F-45D9-E2849B3DB5C6}"/>
                    </a:ext>
                  </a:extLst>
                </p:cNvPr>
                <p:cNvSpPr txBox="1"/>
                <p:nvPr/>
              </p:nvSpPr>
              <p:spPr>
                <a:xfrm>
                  <a:off x="7325240" y="4643812"/>
                  <a:ext cx="213680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Black" panose="020B0A04020102020204" pitchFamily="34" charset="0"/>
                    </a:rPr>
                    <a:t>Defocus (um)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5E51804-24D9-2DF2-3706-05DA95EDE598}"/>
                    </a:ext>
                  </a:extLst>
                </p:cNvPr>
                <p:cNvSpPr txBox="1"/>
                <p:nvPr/>
              </p:nvSpPr>
              <p:spPr>
                <a:xfrm>
                  <a:off x="10323862" y="4643812"/>
                  <a:ext cx="213680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Black" panose="020B0A04020102020204" pitchFamily="34" charset="0"/>
                    </a:rPr>
                    <a:t>Defocus (um)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52CF65C-A0F3-654C-423A-F354367D15DA}"/>
                    </a:ext>
                  </a:extLst>
                </p:cNvPr>
                <p:cNvSpPr txBox="1"/>
                <p:nvPr/>
              </p:nvSpPr>
              <p:spPr>
                <a:xfrm>
                  <a:off x="2305992" y="2601040"/>
                  <a:ext cx="1128514" cy="16158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sz="1050" dirty="0">
                      <a:solidFill>
                        <a:schemeClr val="accent1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Pure Amplitude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5B11AA7-9EA1-2A5D-EBEA-151FA7ED44C6}"/>
                    </a:ext>
                  </a:extLst>
                </p:cNvPr>
                <p:cNvSpPr txBox="1"/>
                <p:nvPr/>
              </p:nvSpPr>
              <p:spPr>
                <a:xfrm>
                  <a:off x="5053111" y="2601040"/>
                  <a:ext cx="1376980" cy="1615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sz="1050" dirty="0">
                      <a:solidFill>
                        <a:schemeClr val="accent1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Pure Phase (weak)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CB2FE43-77DE-248A-8A8B-36FFDEA0F8D1}"/>
                    </a:ext>
                  </a:extLst>
                </p:cNvPr>
                <p:cNvSpPr txBox="1"/>
                <p:nvPr/>
              </p:nvSpPr>
              <p:spPr>
                <a:xfrm>
                  <a:off x="7925962" y="2601040"/>
                  <a:ext cx="1450718" cy="1615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sz="1050" dirty="0">
                      <a:solidFill>
                        <a:schemeClr val="accent1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Pure Phase (strong)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C0A6200-BF93-9025-CE85-C423D60F3FFC}"/>
                    </a:ext>
                  </a:extLst>
                </p:cNvPr>
                <p:cNvSpPr txBox="1"/>
                <p:nvPr/>
              </p:nvSpPr>
              <p:spPr>
                <a:xfrm>
                  <a:off x="11114017" y="2601040"/>
                  <a:ext cx="1173398" cy="1615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sz="1050" dirty="0">
                      <a:solidFill>
                        <a:schemeClr val="accent1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Complex Object</a:t>
                  </a:r>
                </a:p>
              </p:txBody>
            </p:sp>
          </p:grpSp>
          <p:sp>
            <p:nvSpPr>
              <p:cNvPr id="17" name="Arrow: Right 16">
                <a:extLst>
                  <a:ext uri="{FF2B5EF4-FFF2-40B4-BE49-F238E27FC236}">
                    <a16:creationId xmlns:a16="http://schemas.microsoft.com/office/drawing/2014/main" id="{757C26CA-8C23-6D6D-100B-B94AE3DB8A32}"/>
                  </a:ext>
                </a:extLst>
              </p:cNvPr>
              <p:cNvSpPr/>
              <p:nvPr/>
            </p:nvSpPr>
            <p:spPr>
              <a:xfrm rot="19594502">
                <a:off x="1547220" y="2846267"/>
                <a:ext cx="346510" cy="142594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9ACB06-D95B-02FD-0005-AF561ED3680A}"/>
                  </a:ext>
                </a:extLst>
              </p:cNvPr>
              <p:cNvSpPr txBox="1"/>
              <p:nvPr/>
            </p:nvSpPr>
            <p:spPr>
              <a:xfrm>
                <a:off x="901886" y="2956741"/>
                <a:ext cx="1476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accent6">
                        <a:lumMod val="75000"/>
                      </a:schemeClr>
                    </a:solidFill>
                  </a:rPr>
                  <a:t>Global </a:t>
                </a:r>
              </a:p>
              <a:p>
                <a:r>
                  <a:rPr lang="en-IN" sz="1200" b="1" dirty="0">
                    <a:solidFill>
                      <a:schemeClr val="accent6">
                        <a:lumMod val="75000"/>
                      </a:schemeClr>
                    </a:solidFill>
                  </a:rPr>
                  <a:t>maximum</a:t>
                </a:r>
              </a:p>
            </p:txBody>
          </p:sp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6273059A-6C50-F08C-FD8F-E8011D3DC07F}"/>
                  </a:ext>
                </a:extLst>
              </p:cNvPr>
              <p:cNvSpPr/>
              <p:nvPr/>
            </p:nvSpPr>
            <p:spPr>
              <a:xfrm rot="1242917">
                <a:off x="4535998" y="4018946"/>
                <a:ext cx="346510" cy="142594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0C69B1-A172-DF5F-5B8F-5D9DC7C8BBFA}"/>
                  </a:ext>
                </a:extLst>
              </p:cNvPr>
              <p:cNvSpPr txBox="1"/>
              <p:nvPr/>
            </p:nvSpPr>
            <p:spPr>
              <a:xfrm>
                <a:off x="3721404" y="3673179"/>
                <a:ext cx="800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accent6">
                        <a:lumMod val="75000"/>
                      </a:schemeClr>
                    </a:solidFill>
                  </a:rPr>
                  <a:t>Global </a:t>
                </a:r>
              </a:p>
              <a:p>
                <a:r>
                  <a:rPr lang="en-IN" sz="1200" b="1" dirty="0">
                    <a:solidFill>
                      <a:schemeClr val="accent6">
                        <a:lumMod val="75000"/>
                      </a:schemeClr>
                    </a:solidFill>
                  </a:rPr>
                  <a:t>minimum</a:t>
                </a: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1526BF0E-5DEE-75A6-DD56-D7E86B3FB0BE}"/>
                  </a:ext>
                </a:extLst>
              </p:cNvPr>
              <p:cNvSpPr/>
              <p:nvPr/>
            </p:nvSpPr>
            <p:spPr>
              <a:xfrm rot="790287">
                <a:off x="7318378" y="3855739"/>
                <a:ext cx="472502" cy="148559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290599-AF02-7CEA-4382-EF79BAF838BC}"/>
                  </a:ext>
                </a:extLst>
              </p:cNvPr>
              <p:cNvSpPr txBox="1"/>
              <p:nvPr/>
            </p:nvSpPr>
            <p:spPr>
              <a:xfrm>
                <a:off x="6507093" y="3765511"/>
                <a:ext cx="1041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accent6">
                        <a:lumMod val="75000"/>
                      </a:schemeClr>
                    </a:solidFill>
                  </a:rPr>
                  <a:t>False peak</a:t>
                </a:r>
              </a:p>
            </p:txBody>
          </p:sp>
          <p:sp>
            <p:nvSpPr>
              <p:cNvPr id="23" name="Arrow: Right 22">
                <a:extLst>
                  <a:ext uri="{FF2B5EF4-FFF2-40B4-BE49-F238E27FC236}">
                    <a16:creationId xmlns:a16="http://schemas.microsoft.com/office/drawing/2014/main" id="{A4652BBE-9A11-CC94-F72C-43166C58E6DD}"/>
                  </a:ext>
                </a:extLst>
              </p:cNvPr>
              <p:cNvSpPr/>
              <p:nvPr/>
            </p:nvSpPr>
            <p:spPr>
              <a:xfrm rot="5400000">
                <a:off x="9782127" y="3357703"/>
                <a:ext cx="346510" cy="142594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50D09C6C-8440-BAC3-E816-23925494F064}"/>
                  </a:ext>
                </a:extLst>
              </p:cNvPr>
              <p:cNvSpPr/>
              <p:nvPr/>
            </p:nvSpPr>
            <p:spPr>
              <a:xfrm rot="5400000">
                <a:off x="11424507" y="3363656"/>
                <a:ext cx="346510" cy="142594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7BC1F0-0A6B-7AB5-2B4C-71DFB8D6E1B3}"/>
                  </a:ext>
                </a:extLst>
              </p:cNvPr>
              <p:cNvSpPr txBox="1"/>
              <p:nvPr/>
            </p:nvSpPr>
            <p:spPr>
              <a:xfrm>
                <a:off x="9630329" y="2917564"/>
                <a:ext cx="1041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accent6">
                        <a:lumMod val="75000"/>
                      </a:schemeClr>
                    </a:solidFill>
                  </a:rPr>
                  <a:t>Asymmetry</a:t>
                </a:r>
              </a:p>
            </p:txBody>
          </p: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8DF57B4-59D7-A311-3B30-2A5F446E234D}"/>
              </a:ext>
            </a:extLst>
          </p:cNvPr>
          <p:cNvSpPr txBox="1"/>
          <p:nvPr/>
        </p:nvSpPr>
        <p:spPr>
          <a:xfrm>
            <a:off x="596160" y="2548232"/>
            <a:ext cx="46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BA77EB-EB6C-CE64-7D30-51A979ABC6B6}"/>
              </a:ext>
            </a:extLst>
          </p:cNvPr>
          <p:cNvSpPr txBox="1"/>
          <p:nvPr/>
        </p:nvSpPr>
        <p:spPr>
          <a:xfrm>
            <a:off x="3562650" y="2548232"/>
            <a:ext cx="350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25450D-D9B2-6172-0C0D-ADDF48F8DFAA}"/>
              </a:ext>
            </a:extLst>
          </p:cNvPr>
          <p:cNvSpPr txBox="1"/>
          <p:nvPr/>
        </p:nvSpPr>
        <p:spPr>
          <a:xfrm>
            <a:off x="6502577" y="2548232"/>
            <a:ext cx="350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2E0048-F248-E90B-9795-D8ABA8932869}"/>
              </a:ext>
            </a:extLst>
          </p:cNvPr>
          <p:cNvSpPr txBox="1"/>
          <p:nvPr/>
        </p:nvSpPr>
        <p:spPr>
          <a:xfrm>
            <a:off x="9432856" y="2548232"/>
            <a:ext cx="350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0128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7C58-FD41-F6EB-0FC0-4284B03D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5821C92A-EEF7-651A-D127-BB592EF9D99E}"/>
              </a:ext>
            </a:extLst>
          </p:cNvPr>
          <p:cNvGrpSpPr/>
          <p:nvPr/>
        </p:nvGrpSpPr>
        <p:grpSpPr>
          <a:xfrm>
            <a:off x="123412" y="1561662"/>
            <a:ext cx="12735783" cy="2650515"/>
            <a:chOff x="123412" y="1561662"/>
            <a:chExt cx="12735783" cy="26505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610166-1902-99AA-E934-C4633B18D0E5}"/>
                </a:ext>
              </a:extLst>
            </p:cNvPr>
            <p:cNvGrpSpPr/>
            <p:nvPr/>
          </p:nvGrpSpPr>
          <p:grpSpPr>
            <a:xfrm>
              <a:off x="293943" y="1848051"/>
              <a:ext cx="12340819" cy="2215218"/>
              <a:chOff x="37386" y="2801072"/>
              <a:chExt cx="12951651" cy="241722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F2D0D93-25CE-B4CA-412D-B56261B5F2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9176" t="57425" r="824" b="1392"/>
              <a:stretch>
                <a:fillRect/>
              </a:stretch>
            </p:blipFill>
            <p:spPr>
              <a:xfrm>
                <a:off x="9819558" y="2801072"/>
                <a:ext cx="3169479" cy="2417229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7727AB4-67D2-32E3-810A-D7A8AE068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992" r="66866" b="46847"/>
              <a:stretch>
                <a:fillRect/>
              </a:stretch>
            </p:blipFill>
            <p:spPr>
              <a:xfrm>
                <a:off x="37386" y="2801072"/>
                <a:ext cx="3500609" cy="229854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AEEC01D-941E-91DB-84C2-7CE02E4D4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856" t="14163" r="790" b="46676"/>
              <a:stretch>
                <a:fillRect/>
              </a:stretch>
            </p:blipFill>
            <p:spPr>
              <a:xfrm>
                <a:off x="6650079" y="2801072"/>
                <a:ext cx="3206865" cy="229854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7E9FD3E-2344-4253-3DB3-C7983C101C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82" t="14162" r="33642" b="46677"/>
              <a:stretch>
                <a:fillRect/>
              </a:stretch>
            </p:blipFill>
            <p:spPr>
              <a:xfrm>
                <a:off x="3500609" y="2801072"/>
                <a:ext cx="3206865" cy="229854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645D4A-3E0E-4A45-7251-F6159F34AEFB}"/>
                </a:ext>
              </a:extLst>
            </p:cNvPr>
            <p:cNvSpPr txBox="1"/>
            <p:nvPr/>
          </p:nvSpPr>
          <p:spPr>
            <a:xfrm rot="16200000">
              <a:off x="-821217" y="2506291"/>
              <a:ext cx="2150869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latin typeface="Arial" panose="020B0604020202020204" pitchFamily="34" charset="0"/>
                  <a:cs typeface="Arial" panose="020B0604020202020204" pitchFamily="34" charset="0"/>
                </a:rPr>
                <a:t>Normalized Brenner score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4CD89F-7AB6-9ACE-2A5F-81E583665411}"/>
                </a:ext>
              </a:extLst>
            </p:cNvPr>
            <p:cNvSpPr txBox="1"/>
            <p:nvPr/>
          </p:nvSpPr>
          <p:spPr>
            <a:xfrm>
              <a:off x="1647064" y="3932464"/>
              <a:ext cx="21368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latin typeface="Arial" panose="020B0604020202020204" pitchFamily="34" charset="0"/>
                  <a:cs typeface="Arial" panose="020B0604020202020204" pitchFamily="34" charset="0"/>
                </a:rPr>
                <a:t>Defocus (µm)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ED3DE8-2F3F-5FE3-1781-5F3FAF4FF647}"/>
                </a:ext>
              </a:extLst>
            </p:cNvPr>
            <p:cNvSpPr txBox="1"/>
            <p:nvPr/>
          </p:nvSpPr>
          <p:spPr>
            <a:xfrm>
              <a:off x="4616583" y="3950567"/>
              <a:ext cx="21368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latin typeface="Arial" panose="020B0604020202020204" pitchFamily="34" charset="0"/>
                  <a:cs typeface="Arial" panose="020B0604020202020204" pitchFamily="34" charset="0"/>
                </a:rPr>
                <a:t>Defocus (µm)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A44816D-9A5C-1F3B-BCE0-1C678B6238AE}"/>
                </a:ext>
              </a:extLst>
            </p:cNvPr>
            <p:cNvSpPr txBox="1"/>
            <p:nvPr/>
          </p:nvSpPr>
          <p:spPr>
            <a:xfrm>
              <a:off x="7669485" y="3921447"/>
              <a:ext cx="21368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latin typeface="Arial" panose="020B0604020202020204" pitchFamily="34" charset="0"/>
                  <a:cs typeface="Arial" panose="020B0604020202020204" pitchFamily="34" charset="0"/>
                </a:rPr>
                <a:t>Defocus (µm)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C5F008-2430-431F-65E5-420D4D091252}"/>
                </a:ext>
              </a:extLst>
            </p:cNvPr>
            <p:cNvSpPr txBox="1"/>
            <p:nvPr/>
          </p:nvSpPr>
          <p:spPr>
            <a:xfrm>
              <a:off x="10722387" y="3921447"/>
              <a:ext cx="21368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latin typeface="Arial" panose="020B0604020202020204" pitchFamily="34" charset="0"/>
                  <a:cs typeface="Arial" panose="020B0604020202020204" pitchFamily="34" charset="0"/>
                </a:rPr>
                <a:t>Defocus (µm)</a:t>
              </a: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A21DE280-603B-EC46-5E48-4F5DD6EC36F7}"/>
                </a:ext>
              </a:extLst>
            </p:cNvPr>
            <p:cNvSpPr/>
            <p:nvPr/>
          </p:nvSpPr>
          <p:spPr>
            <a:xfrm rot="19594502">
              <a:off x="1586759" y="2216444"/>
              <a:ext cx="346510" cy="142594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EDEFDB-CCE5-A2CE-0189-2FE209681C57}"/>
                </a:ext>
              </a:extLst>
            </p:cNvPr>
            <p:cNvSpPr txBox="1"/>
            <p:nvPr/>
          </p:nvSpPr>
          <p:spPr>
            <a:xfrm>
              <a:off x="908809" y="2287741"/>
              <a:ext cx="14765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Global </a:t>
              </a:r>
            </a:p>
            <a:p>
              <a:r>
                <a:rPr lang="en-I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maximum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089721-01F9-BBDA-9D40-A96D6012E96A}"/>
                </a:ext>
              </a:extLst>
            </p:cNvPr>
            <p:cNvSpPr txBox="1"/>
            <p:nvPr/>
          </p:nvSpPr>
          <p:spPr>
            <a:xfrm>
              <a:off x="2541614" y="1926766"/>
              <a:ext cx="993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I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Pure Amplitude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C2E2BE-9C7A-A59B-D4C2-2365BB923995}"/>
                </a:ext>
              </a:extLst>
            </p:cNvPr>
            <p:cNvSpPr txBox="1"/>
            <p:nvPr/>
          </p:nvSpPr>
          <p:spPr>
            <a:xfrm>
              <a:off x="590341" y="1863500"/>
              <a:ext cx="4620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2060"/>
                  </a:solidFill>
                </a:rPr>
                <a:t>(a)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3170941-5C5D-E04C-37BA-B31B602B39BB}"/>
                </a:ext>
              </a:extLst>
            </p:cNvPr>
            <p:cNvSpPr txBox="1"/>
            <p:nvPr/>
          </p:nvSpPr>
          <p:spPr>
            <a:xfrm>
              <a:off x="5372921" y="1926765"/>
              <a:ext cx="1191032" cy="1615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I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Pure Phase (weak)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E22903F2-88AB-05DC-51C1-8FFA50D38FA4}"/>
                </a:ext>
              </a:extLst>
            </p:cNvPr>
            <p:cNvSpPr/>
            <p:nvPr/>
          </p:nvSpPr>
          <p:spPr>
            <a:xfrm rot="1242917">
              <a:off x="4682089" y="3379241"/>
              <a:ext cx="346510" cy="142594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511207-15AE-9DDC-25FD-6D73C7D37BB8}"/>
                </a:ext>
              </a:extLst>
            </p:cNvPr>
            <p:cNvSpPr txBox="1"/>
            <p:nvPr/>
          </p:nvSpPr>
          <p:spPr>
            <a:xfrm>
              <a:off x="3852710" y="3066146"/>
              <a:ext cx="8680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Global </a:t>
              </a:r>
            </a:p>
            <a:p>
              <a:r>
                <a:rPr lang="en-I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minimum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E48AB8-6759-8AD6-191C-8F28B7D18A16}"/>
                </a:ext>
              </a:extLst>
            </p:cNvPr>
            <p:cNvSpPr txBox="1"/>
            <p:nvPr/>
          </p:nvSpPr>
          <p:spPr>
            <a:xfrm>
              <a:off x="3631729" y="1876904"/>
              <a:ext cx="4726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(b)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BAFDB9-DCA0-F361-818C-145D8C6EE6B1}"/>
                </a:ext>
              </a:extLst>
            </p:cNvPr>
            <p:cNvSpPr txBox="1"/>
            <p:nvPr/>
          </p:nvSpPr>
          <p:spPr>
            <a:xfrm>
              <a:off x="8335567" y="1929711"/>
              <a:ext cx="1279196" cy="1615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I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Pure Phase (strong)</a:t>
              </a:r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16F07311-336F-A23C-D726-FA565E581A7E}"/>
                </a:ext>
              </a:extLst>
            </p:cNvPr>
            <p:cNvSpPr/>
            <p:nvPr/>
          </p:nvSpPr>
          <p:spPr>
            <a:xfrm rot="790287">
              <a:off x="7542396" y="3250101"/>
              <a:ext cx="472502" cy="148559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EB0007-D773-CB07-70F9-B722CDFC9ECB}"/>
                </a:ext>
              </a:extLst>
            </p:cNvPr>
            <p:cNvSpPr txBox="1"/>
            <p:nvPr/>
          </p:nvSpPr>
          <p:spPr>
            <a:xfrm>
              <a:off x="6680265" y="3059721"/>
              <a:ext cx="1041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False peak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7987201-7247-C425-6795-2B138B72C9CE}"/>
                </a:ext>
              </a:extLst>
            </p:cNvPr>
            <p:cNvSpPr txBox="1"/>
            <p:nvPr/>
          </p:nvSpPr>
          <p:spPr>
            <a:xfrm>
              <a:off x="6680265" y="1876904"/>
              <a:ext cx="4726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(c)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5C85D9-F8AD-3F8A-CEC4-1BB7F315FF8E}"/>
                </a:ext>
              </a:extLst>
            </p:cNvPr>
            <p:cNvSpPr txBox="1"/>
            <p:nvPr/>
          </p:nvSpPr>
          <p:spPr>
            <a:xfrm>
              <a:off x="11560041" y="1926765"/>
              <a:ext cx="1024319" cy="1615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I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Complex Object</a:t>
              </a:r>
            </a:p>
          </p:txBody>
        </p: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3EE8F891-90B5-7B1D-12C9-8BBDEEAB6260}"/>
                </a:ext>
              </a:extLst>
            </p:cNvPr>
            <p:cNvSpPr/>
            <p:nvPr/>
          </p:nvSpPr>
          <p:spPr>
            <a:xfrm rot="5400000">
              <a:off x="10016229" y="2692001"/>
              <a:ext cx="346510" cy="142594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4EBFDAA5-D170-15EC-858A-C268BC6BAABE}"/>
                </a:ext>
              </a:extLst>
            </p:cNvPr>
            <p:cNvSpPr/>
            <p:nvPr/>
          </p:nvSpPr>
          <p:spPr>
            <a:xfrm rot="5400000">
              <a:off x="11658609" y="2697954"/>
              <a:ext cx="346510" cy="142594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3146EBF-A508-8989-449D-6046F801B559}"/>
                </a:ext>
              </a:extLst>
            </p:cNvPr>
            <p:cNvSpPr txBox="1"/>
            <p:nvPr/>
          </p:nvSpPr>
          <p:spPr>
            <a:xfrm>
              <a:off x="9949342" y="2287741"/>
              <a:ext cx="1041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Asymmetry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0E0BE2B-7822-B2DC-C092-044D1ECA574E}"/>
                </a:ext>
              </a:extLst>
            </p:cNvPr>
            <p:cNvSpPr txBox="1"/>
            <p:nvPr/>
          </p:nvSpPr>
          <p:spPr>
            <a:xfrm>
              <a:off x="9703385" y="1876904"/>
              <a:ext cx="4726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(d)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10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8FBF8-1E3C-B86B-F836-8C553648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29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122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Gaurang Garg</dc:creator>
  <cp:lastModifiedBy>Gaurang Garg</cp:lastModifiedBy>
  <cp:revision>3</cp:revision>
  <dcterms:created xsi:type="dcterms:W3CDTF">2026-06-18T15:32:37Z</dcterms:created>
  <dcterms:modified xsi:type="dcterms:W3CDTF">2026-06-28T07:45:42Z</dcterms:modified>
</cp:coreProperties>
</file>